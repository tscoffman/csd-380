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C433A4-7C53-4CD5-A0DD-C8A247F717A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5C07D3-1B4A-4738-814A-E88ADF8BAC89}">
      <dgm:prSet phldrT="[Text]" phldr="0"/>
      <dgm:spPr/>
      <dgm:t>
        <a:bodyPr/>
        <a:lstStyle/>
        <a:p>
          <a:r>
            <a:rPr lang="en-US" dirty="0"/>
            <a:t>1. Primary On-Call</a:t>
          </a:r>
        </a:p>
      </dgm:t>
    </dgm:pt>
    <dgm:pt modelId="{16EC9140-BE7A-4C53-8F43-946B75263840}" type="parTrans" cxnId="{708001A1-D47F-43BD-B57A-74E7442B974A}">
      <dgm:prSet/>
      <dgm:spPr/>
      <dgm:t>
        <a:bodyPr/>
        <a:lstStyle/>
        <a:p>
          <a:endParaRPr lang="en-US"/>
        </a:p>
      </dgm:t>
    </dgm:pt>
    <dgm:pt modelId="{4B6D54B0-A3A3-4423-8940-CB5EB1129AF7}" type="sibTrans" cxnId="{708001A1-D47F-43BD-B57A-74E7442B974A}">
      <dgm:prSet/>
      <dgm:spPr/>
      <dgm:t>
        <a:bodyPr/>
        <a:lstStyle/>
        <a:p>
          <a:endParaRPr lang="en-US"/>
        </a:p>
      </dgm:t>
    </dgm:pt>
    <dgm:pt modelId="{311B9884-7955-4317-9096-36276CD574DF}">
      <dgm:prSet phldrT="[Text]" phldr="0"/>
      <dgm:spPr/>
      <dgm:t>
        <a:bodyPr/>
        <a:lstStyle/>
        <a:p>
          <a:r>
            <a:rPr lang="en-US" dirty="0"/>
            <a:t>2. Secondary/Backup</a:t>
          </a:r>
        </a:p>
      </dgm:t>
    </dgm:pt>
    <dgm:pt modelId="{032C3BEE-184C-4B9E-A8DC-E71725B9B0C4}" type="parTrans" cxnId="{E24A630B-0F56-4AC7-82C6-9B12C0D67AAA}">
      <dgm:prSet/>
      <dgm:spPr/>
      <dgm:t>
        <a:bodyPr/>
        <a:lstStyle/>
        <a:p>
          <a:endParaRPr lang="en-US"/>
        </a:p>
      </dgm:t>
    </dgm:pt>
    <dgm:pt modelId="{F1622FE3-F7A9-449D-9AD8-CF212E0D70E1}" type="sibTrans" cxnId="{E24A630B-0F56-4AC7-82C6-9B12C0D67AAA}">
      <dgm:prSet/>
      <dgm:spPr/>
      <dgm:t>
        <a:bodyPr/>
        <a:lstStyle/>
        <a:p>
          <a:endParaRPr lang="en-US"/>
        </a:p>
      </dgm:t>
    </dgm:pt>
    <dgm:pt modelId="{783F313D-71FF-422D-BCB6-25E16598E796}">
      <dgm:prSet phldrT="[Text]" phldr="0"/>
      <dgm:spPr/>
      <dgm:t>
        <a:bodyPr/>
        <a:lstStyle/>
        <a:p>
          <a:r>
            <a:rPr lang="en-US" dirty="0"/>
            <a:t>3. Incident Commander</a:t>
          </a:r>
        </a:p>
      </dgm:t>
    </dgm:pt>
    <dgm:pt modelId="{0EF01EAA-CF7E-4BB1-BD1F-4BAFD925948E}" type="parTrans" cxnId="{8AD4E59C-C781-4CE0-A3E7-8C05BCCE89D8}">
      <dgm:prSet/>
      <dgm:spPr/>
      <dgm:t>
        <a:bodyPr/>
        <a:lstStyle/>
        <a:p>
          <a:endParaRPr lang="en-US"/>
        </a:p>
      </dgm:t>
    </dgm:pt>
    <dgm:pt modelId="{77F549EB-E8E3-4717-8565-101034483948}" type="sibTrans" cxnId="{8AD4E59C-C781-4CE0-A3E7-8C05BCCE89D8}">
      <dgm:prSet/>
      <dgm:spPr/>
      <dgm:t>
        <a:bodyPr/>
        <a:lstStyle/>
        <a:p>
          <a:endParaRPr lang="en-US"/>
        </a:p>
      </dgm:t>
    </dgm:pt>
    <dgm:pt modelId="{1FFD8519-11D3-435B-A733-1DD89C455BA8}" type="pres">
      <dgm:prSet presAssocID="{70C433A4-7C53-4CD5-A0DD-C8A247F717A2}" presName="Name0" presStyleCnt="0">
        <dgm:presLayoutVars>
          <dgm:dir/>
          <dgm:resizeHandles val="exact"/>
        </dgm:presLayoutVars>
      </dgm:prSet>
      <dgm:spPr/>
    </dgm:pt>
    <dgm:pt modelId="{293BC0C1-BC8A-4E0D-9E1D-03FA5CCD161C}" type="pres">
      <dgm:prSet presAssocID="{0E5C07D3-1B4A-4738-814A-E88ADF8BAC89}" presName="node" presStyleLbl="node1" presStyleIdx="0" presStyleCnt="3">
        <dgm:presLayoutVars>
          <dgm:bulletEnabled val="1"/>
        </dgm:presLayoutVars>
      </dgm:prSet>
      <dgm:spPr/>
    </dgm:pt>
    <dgm:pt modelId="{4F79E067-B61D-4FBF-8621-1C19155F72FF}" type="pres">
      <dgm:prSet presAssocID="{4B6D54B0-A3A3-4423-8940-CB5EB1129AF7}" presName="sibTrans" presStyleLbl="sibTrans2D1" presStyleIdx="0" presStyleCnt="2"/>
      <dgm:spPr/>
    </dgm:pt>
    <dgm:pt modelId="{DE12CDD3-8E9E-4BE3-A983-B52DF04FD163}" type="pres">
      <dgm:prSet presAssocID="{4B6D54B0-A3A3-4423-8940-CB5EB1129AF7}" presName="connectorText" presStyleLbl="sibTrans2D1" presStyleIdx="0" presStyleCnt="2"/>
      <dgm:spPr/>
    </dgm:pt>
    <dgm:pt modelId="{AAC24CEF-0337-4655-B078-EC2E6BA4A14A}" type="pres">
      <dgm:prSet presAssocID="{311B9884-7955-4317-9096-36276CD574DF}" presName="node" presStyleLbl="node1" presStyleIdx="1" presStyleCnt="3">
        <dgm:presLayoutVars>
          <dgm:bulletEnabled val="1"/>
        </dgm:presLayoutVars>
      </dgm:prSet>
      <dgm:spPr/>
    </dgm:pt>
    <dgm:pt modelId="{0E54C607-44FE-45B4-B186-F9E8FE671E31}" type="pres">
      <dgm:prSet presAssocID="{F1622FE3-F7A9-449D-9AD8-CF212E0D70E1}" presName="sibTrans" presStyleLbl="sibTrans2D1" presStyleIdx="1" presStyleCnt="2"/>
      <dgm:spPr/>
    </dgm:pt>
    <dgm:pt modelId="{A763D3E7-6883-4194-90B0-7B5F732F0B30}" type="pres">
      <dgm:prSet presAssocID="{F1622FE3-F7A9-449D-9AD8-CF212E0D70E1}" presName="connectorText" presStyleLbl="sibTrans2D1" presStyleIdx="1" presStyleCnt="2"/>
      <dgm:spPr/>
    </dgm:pt>
    <dgm:pt modelId="{7C5D5AFB-CA10-4A8F-8B38-1F38F77EF4FB}" type="pres">
      <dgm:prSet presAssocID="{783F313D-71FF-422D-BCB6-25E16598E796}" presName="node" presStyleLbl="node1" presStyleIdx="2" presStyleCnt="3">
        <dgm:presLayoutVars>
          <dgm:bulletEnabled val="1"/>
        </dgm:presLayoutVars>
      </dgm:prSet>
      <dgm:spPr/>
    </dgm:pt>
  </dgm:ptLst>
  <dgm:cxnLst>
    <dgm:cxn modelId="{36F8080B-E3BC-4B01-B81A-B0EF9423D640}" type="presOf" srcId="{F1622FE3-F7A9-449D-9AD8-CF212E0D70E1}" destId="{A763D3E7-6883-4194-90B0-7B5F732F0B30}" srcOrd="1" destOrd="0" presId="urn:microsoft.com/office/officeart/2005/8/layout/process1"/>
    <dgm:cxn modelId="{E24A630B-0F56-4AC7-82C6-9B12C0D67AAA}" srcId="{70C433A4-7C53-4CD5-A0DD-C8A247F717A2}" destId="{311B9884-7955-4317-9096-36276CD574DF}" srcOrd="1" destOrd="0" parTransId="{032C3BEE-184C-4B9E-A8DC-E71725B9B0C4}" sibTransId="{F1622FE3-F7A9-449D-9AD8-CF212E0D70E1}"/>
    <dgm:cxn modelId="{775B992B-3597-45B1-B712-AFB57C0E2A59}" type="presOf" srcId="{0E5C07D3-1B4A-4738-814A-E88ADF8BAC89}" destId="{293BC0C1-BC8A-4E0D-9E1D-03FA5CCD161C}" srcOrd="0" destOrd="0" presId="urn:microsoft.com/office/officeart/2005/8/layout/process1"/>
    <dgm:cxn modelId="{DE6C4332-C60C-487F-A1D3-DE5580EA2D01}" type="presOf" srcId="{70C433A4-7C53-4CD5-A0DD-C8A247F717A2}" destId="{1FFD8519-11D3-435B-A733-1DD89C455BA8}" srcOrd="0" destOrd="0" presId="urn:microsoft.com/office/officeart/2005/8/layout/process1"/>
    <dgm:cxn modelId="{17DC6561-27C7-4132-A359-0E89FCD94F99}" type="presOf" srcId="{311B9884-7955-4317-9096-36276CD574DF}" destId="{AAC24CEF-0337-4655-B078-EC2E6BA4A14A}" srcOrd="0" destOrd="0" presId="urn:microsoft.com/office/officeart/2005/8/layout/process1"/>
    <dgm:cxn modelId="{2AEF9554-9514-4FA6-94B6-CD835C7175C8}" type="presOf" srcId="{783F313D-71FF-422D-BCB6-25E16598E796}" destId="{7C5D5AFB-CA10-4A8F-8B38-1F38F77EF4FB}" srcOrd="0" destOrd="0" presId="urn:microsoft.com/office/officeart/2005/8/layout/process1"/>
    <dgm:cxn modelId="{7982FF9A-8E01-46DB-9014-89DDF3276D75}" type="presOf" srcId="{4B6D54B0-A3A3-4423-8940-CB5EB1129AF7}" destId="{DE12CDD3-8E9E-4BE3-A983-B52DF04FD163}" srcOrd="1" destOrd="0" presId="urn:microsoft.com/office/officeart/2005/8/layout/process1"/>
    <dgm:cxn modelId="{8AD4E59C-C781-4CE0-A3E7-8C05BCCE89D8}" srcId="{70C433A4-7C53-4CD5-A0DD-C8A247F717A2}" destId="{783F313D-71FF-422D-BCB6-25E16598E796}" srcOrd="2" destOrd="0" parTransId="{0EF01EAA-CF7E-4BB1-BD1F-4BAFD925948E}" sibTransId="{77F549EB-E8E3-4717-8565-101034483948}"/>
    <dgm:cxn modelId="{708001A1-D47F-43BD-B57A-74E7442B974A}" srcId="{70C433A4-7C53-4CD5-A0DD-C8A247F717A2}" destId="{0E5C07D3-1B4A-4738-814A-E88ADF8BAC89}" srcOrd="0" destOrd="0" parTransId="{16EC9140-BE7A-4C53-8F43-946B75263840}" sibTransId="{4B6D54B0-A3A3-4423-8940-CB5EB1129AF7}"/>
    <dgm:cxn modelId="{04424DA1-39B5-489B-AFBB-E15F0260FB08}" type="presOf" srcId="{F1622FE3-F7A9-449D-9AD8-CF212E0D70E1}" destId="{0E54C607-44FE-45B4-B186-F9E8FE671E31}" srcOrd="0" destOrd="0" presId="urn:microsoft.com/office/officeart/2005/8/layout/process1"/>
    <dgm:cxn modelId="{4863EDF1-4249-495E-B652-D2CEE88B0E28}" type="presOf" srcId="{4B6D54B0-A3A3-4423-8940-CB5EB1129AF7}" destId="{4F79E067-B61D-4FBF-8621-1C19155F72FF}" srcOrd="0" destOrd="0" presId="urn:microsoft.com/office/officeart/2005/8/layout/process1"/>
    <dgm:cxn modelId="{40FA826E-EC71-4823-A568-A15C1146F32B}" type="presParOf" srcId="{1FFD8519-11D3-435B-A733-1DD89C455BA8}" destId="{293BC0C1-BC8A-4E0D-9E1D-03FA5CCD161C}" srcOrd="0" destOrd="0" presId="urn:microsoft.com/office/officeart/2005/8/layout/process1"/>
    <dgm:cxn modelId="{04E0EE63-DC3D-45A8-B268-001471D046E3}" type="presParOf" srcId="{1FFD8519-11D3-435B-A733-1DD89C455BA8}" destId="{4F79E067-B61D-4FBF-8621-1C19155F72FF}" srcOrd="1" destOrd="0" presId="urn:microsoft.com/office/officeart/2005/8/layout/process1"/>
    <dgm:cxn modelId="{FCB8660E-1F6D-42A1-AF39-53490B767A08}" type="presParOf" srcId="{4F79E067-B61D-4FBF-8621-1C19155F72FF}" destId="{DE12CDD3-8E9E-4BE3-A983-B52DF04FD163}" srcOrd="0" destOrd="0" presId="urn:microsoft.com/office/officeart/2005/8/layout/process1"/>
    <dgm:cxn modelId="{4C7D0CD0-FA12-4854-B5BD-01F88EEEE013}" type="presParOf" srcId="{1FFD8519-11D3-435B-A733-1DD89C455BA8}" destId="{AAC24CEF-0337-4655-B078-EC2E6BA4A14A}" srcOrd="2" destOrd="0" presId="urn:microsoft.com/office/officeart/2005/8/layout/process1"/>
    <dgm:cxn modelId="{2F2A7234-4EA9-4E47-8E7D-4D99E0B0B775}" type="presParOf" srcId="{1FFD8519-11D3-435B-A733-1DD89C455BA8}" destId="{0E54C607-44FE-45B4-B186-F9E8FE671E31}" srcOrd="3" destOrd="0" presId="urn:microsoft.com/office/officeart/2005/8/layout/process1"/>
    <dgm:cxn modelId="{B2C97BC2-2348-4C2A-A01B-896E1B7EA5B8}" type="presParOf" srcId="{0E54C607-44FE-45B4-B186-F9E8FE671E31}" destId="{A763D3E7-6883-4194-90B0-7B5F732F0B30}" srcOrd="0" destOrd="0" presId="urn:microsoft.com/office/officeart/2005/8/layout/process1"/>
    <dgm:cxn modelId="{A5F538D3-3F1A-4A9F-AD18-C9FA711D0041}" type="presParOf" srcId="{1FFD8519-11D3-435B-A733-1DD89C455BA8}" destId="{7C5D5AFB-CA10-4A8F-8B38-1F38F77EF4F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BC0C1-BC8A-4E0D-9E1D-03FA5CCD161C}">
      <dsp:nvSpPr>
        <dsp:cNvPr id="0" name=""/>
        <dsp:cNvSpPr/>
      </dsp:nvSpPr>
      <dsp:spPr>
        <a:xfrm>
          <a:off x="10715" y="82258"/>
          <a:ext cx="3202781" cy="1921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1. Primary On-Call</a:t>
          </a:r>
        </a:p>
      </dsp:txBody>
      <dsp:txXfrm>
        <a:off x="66999" y="138542"/>
        <a:ext cx="3090213" cy="1809100"/>
      </dsp:txXfrm>
    </dsp:sp>
    <dsp:sp modelId="{4F79E067-B61D-4FBF-8621-1C19155F72FF}">
      <dsp:nvSpPr>
        <dsp:cNvPr id="0" name=""/>
        <dsp:cNvSpPr/>
      </dsp:nvSpPr>
      <dsp:spPr>
        <a:xfrm>
          <a:off x="3533775" y="645948"/>
          <a:ext cx="678989" cy="794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533775" y="804806"/>
        <a:ext cx="475292" cy="476573"/>
      </dsp:txXfrm>
    </dsp:sp>
    <dsp:sp modelId="{AAC24CEF-0337-4655-B078-EC2E6BA4A14A}">
      <dsp:nvSpPr>
        <dsp:cNvPr id="0" name=""/>
        <dsp:cNvSpPr/>
      </dsp:nvSpPr>
      <dsp:spPr>
        <a:xfrm>
          <a:off x="4494609" y="82258"/>
          <a:ext cx="3202781" cy="1921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2. Secondary/Backup</a:t>
          </a:r>
        </a:p>
      </dsp:txBody>
      <dsp:txXfrm>
        <a:off x="4550893" y="138542"/>
        <a:ext cx="3090213" cy="1809100"/>
      </dsp:txXfrm>
    </dsp:sp>
    <dsp:sp modelId="{0E54C607-44FE-45B4-B186-F9E8FE671E31}">
      <dsp:nvSpPr>
        <dsp:cNvPr id="0" name=""/>
        <dsp:cNvSpPr/>
      </dsp:nvSpPr>
      <dsp:spPr>
        <a:xfrm>
          <a:off x="8017668" y="645948"/>
          <a:ext cx="678989" cy="794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017668" y="804806"/>
        <a:ext cx="475292" cy="476573"/>
      </dsp:txXfrm>
    </dsp:sp>
    <dsp:sp modelId="{7C5D5AFB-CA10-4A8F-8B38-1F38F77EF4FB}">
      <dsp:nvSpPr>
        <dsp:cNvPr id="0" name=""/>
        <dsp:cNvSpPr/>
      </dsp:nvSpPr>
      <dsp:spPr>
        <a:xfrm>
          <a:off x="8978503" y="82258"/>
          <a:ext cx="3202781" cy="1921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3. Incident Commander</a:t>
          </a:r>
        </a:p>
      </dsp:txBody>
      <dsp:txXfrm>
        <a:off x="9034787" y="138542"/>
        <a:ext cx="3090213" cy="1809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0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0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06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4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58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7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0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6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4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4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5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9CBDDE0-353E-4E54-A996-4DED573AB60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9B7D326-73C1-4E5C-901C-48ABC8C0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8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.com/on-call-rotation-best-practices-reducing-burnout-and-improving-response/" TargetMode="External"/><Relationship Id="rId2" Type="http://schemas.openxmlformats.org/officeDocument/2006/relationships/hyperlink" Target="https://drdroid.io/engineering-tools/google-sre-handbook-summ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cident.io/blog/incident-management-best-practices-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A68A-0DF9-D61D-25EE-B63709549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458EC-DA49-1467-D8A9-A13DB111E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On-Call Best Practices in DevOps</a:t>
            </a:r>
          </a:p>
        </p:txBody>
      </p:sp>
    </p:spTree>
    <p:extLst>
      <p:ext uri="{BB962C8B-B14F-4D97-AF65-F5344CB8AC3E}">
        <p14:creationId xmlns:p14="http://schemas.microsoft.com/office/powerpoint/2010/main" val="135279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D13E-A0EA-F55A-AC40-634AF0F68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Pager Rotation &amp;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4626-074D-4C9F-CC09-29B1CAAB0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On-call: a formalized process and schedule that rotates responsibility among engineers so someone is always available to acknowledge and resolve production alerts, incidents, and service issues</a:t>
            </a:r>
          </a:p>
          <a:p>
            <a:r>
              <a:rPr lang="en-US" dirty="0"/>
              <a:t>Engages experts early - brings subject-matter experts into an incident at the start, instead of a slow chain of hand-offs</a:t>
            </a:r>
          </a:p>
          <a:p>
            <a:r>
              <a:rPr lang="en-US" dirty="0"/>
              <a:t>Reduces chaos – a defined schedule and escalation path replaces “who do we call?” scrambling during issues</a:t>
            </a:r>
          </a:p>
          <a:p>
            <a:r>
              <a:rPr lang="en-US" dirty="0"/>
              <a:t>Speeds up recovery – Minimizes time to acknowledge and resolve</a:t>
            </a:r>
          </a:p>
        </p:txBody>
      </p:sp>
    </p:spTree>
    <p:extLst>
      <p:ext uri="{BB962C8B-B14F-4D97-AF65-F5344CB8AC3E}">
        <p14:creationId xmlns:p14="http://schemas.microsoft.com/office/powerpoint/2010/main" val="284995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CCD1-AB71-1071-1138-36E98D49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models &amp; escalation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FA4EC3-0A9C-6C3A-F058-3915341D2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585060"/>
              </p:ext>
            </p:extLst>
          </p:nvPr>
        </p:nvGraphicFramePr>
        <p:xfrm>
          <a:off x="0" y="4850215"/>
          <a:ext cx="12192000" cy="2086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E4AB4B-ECEE-3D92-ACBA-14D365EDCA76}"/>
              </a:ext>
            </a:extLst>
          </p:cNvPr>
          <p:cNvSpPr txBox="1"/>
          <p:nvPr/>
        </p:nvSpPr>
        <p:spPr>
          <a:xfrm>
            <a:off x="236043" y="4480883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Escalation Tiers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731A1-5E30-08BE-2B3D-513C8F1D57BB}"/>
              </a:ext>
            </a:extLst>
          </p:cNvPr>
          <p:cNvSpPr txBox="1"/>
          <p:nvPr/>
        </p:nvSpPr>
        <p:spPr>
          <a:xfrm>
            <a:off x="20320" y="2763149"/>
            <a:ext cx="3278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Primary / Secondary</a:t>
            </a:r>
          </a:p>
          <a:p>
            <a:r>
              <a:rPr lang="en-US" dirty="0"/>
              <a:t>One engineer Carries the primary pager for a fixes period; a secondary backs them up and handles escalations.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3BB2-7823-8BD6-628B-150893921BDC}"/>
              </a:ext>
            </a:extLst>
          </p:cNvPr>
          <p:cNvSpPr txBox="1"/>
          <p:nvPr/>
        </p:nvSpPr>
        <p:spPr>
          <a:xfrm>
            <a:off x="4399280" y="2763149"/>
            <a:ext cx="3393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Round Robin</a:t>
            </a:r>
          </a:p>
          <a:p>
            <a:r>
              <a:rPr lang="en-US" dirty="0"/>
              <a:t>Every eligible engineer cycles through in a fixed order, distributing load evenly and building organization-wide incident skills.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69D5C-856F-6294-E726-755FAA55B29C}"/>
              </a:ext>
            </a:extLst>
          </p:cNvPr>
          <p:cNvSpPr txBox="1"/>
          <p:nvPr/>
        </p:nvSpPr>
        <p:spPr>
          <a:xfrm>
            <a:off x="8893386" y="2763149"/>
            <a:ext cx="33934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Follow-the-Sun</a:t>
            </a:r>
          </a:p>
          <a:p>
            <a:r>
              <a:rPr lang="en-US" dirty="0"/>
              <a:t>Globally distributed teams pass the pager across time zones so no one is required to take an overnight shift</a:t>
            </a:r>
          </a:p>
        </p:txBody>
      </p:sp>
    </p:spTree>
    <p:extLst>
      <p:ext uri="{BB962C8B-B14F-4D97-AF65-F5344CB8AC3E}">
        <p14:creationId xmlns:p14="http://schemas.microsoft.com/office/powerpoint/2010/main" val="34128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C19C-95EB-0DA5-703E-8CD8538D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Fairness &amp; compensation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166E-59AF-7EC9-79BD-48A7258C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Distribution – Rotations should be balanced so no single person is permanently stuck with weekend or overnight duty.</a:t>
            </a:r>
          </a:p>
          <a:p>
            <a:r>
              <a:rPr lang="en-US" dirty="0"/>
              <a:t>Pay for the Pager – Compensate engineers for carrying on-call responsibility, regardless of whether they are actually pages. With extra pay for after-hours incidents.</a:t>
            </a:r>
          </a:p>
          <a:p>
            <a:r>
              <a:rPr lang="en-US" dirty="0"/>
              <a:t>Clear Expectations – Every engineer should know exactly when they are on, who to escalate to, and what kinds of issues they may be called for.</a:t>
            </a:r>
          </a:p>
        </p:txBody>
      </p:sp>
    </p:spTree>
    <p:extLst>
      <p:ext uri="{BB962C8B-B14F-4D97-AF65-F5344CB8AC3E}">
        <p14:creationId xmlns:p14="http://schemas.microsoft.com/office/powerpoint/2010/main" val="160911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84D8-A676-9F66-9482-F3AAF3A6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Sustainable Workload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E86B3-805C-5E2D-5D3A-6DDE7C224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2-3 actionable incidents per shift is the sustainable baseline recommended in the Google SRE Workbook (beyond that, fix the alerting, not the schedule).</a:t>
            </a:r>
          </a:p>
          <a:p>
            <a:r>
              <a:rPr lang="en-US" dirty="0"/>
              <a:t>Every page should be actionable. Alerts for things that “fix themselves” train responders to ignore the pager, eroding trust in the whole system.</a:t>
            </a:r>
          </a:p>
        </p:txBody>
      </p:sp>
    </p:spTree>
    <p:extLst>
      <p:ext uri="{BB962C8B-B14F-4D97-AF65-F5344CB8AC3E}">
        <p14:creationId xmlns:p14="http://schemas.microsoft.com/office/powerpoint/2010/main" val="289177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3FED-6626-7370-DB01-30C584A2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Handoffs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4450F-A722-5A68-54E7-47207469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shift begins with the on-call engineer reading a documented handoff from the previous shift. Which includes open issues, recent changes, and watch-items.</a:t>
            </a:r>
          </a:p>
          <a:p>
            <a:r>
              <a:rPr lang="en-US" dirty="0"/>
              <a:t>Up-to-date playbooks with clear debugging and mitigation steps speed up response dramatically.</a:t>
            </a:r>
          </a:p>
          <a:p>
            <a:r>
              <a:rPr lang="en-US" dirty="0"/>
              <a:t>Training should include teams role-playing past incidents in a safe setting so newer responders build debugging skills before facing real outages alone.</a:t>
            </a:r>
          </a:p>
        </p:txBody>
      </p:sp>
    </p:spTree>
    <p:extLst>
      <p:ext uri="{BB962C8B-B14F-4D97-AF65-F5344CB8AC3E}">
        <p14:creationId xmlns:p14="http://schemas.microsoft.com/office/powerpoint/2010/main" val="3729336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8431-CF5D-8575-9F60-21D55E04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&amp; Tooling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59E0-B150-FAE5-B8FD-6D791FC11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Auto-triage, severity tagging, and suggested mitigation let on-callers focus on judgement calls instead of busywork.</a:t>
            </a:r>
          </a:p>
          <a:p>
            <a:r>
              <a:rPr lang="en-US" dirty="0"/>
              <a:t>Centralized incident-management tooling (Slack channels, status pages, postmortem templates) keeps process consistent under pressure.</a:t>
            </a:r>
          </a:p>
          <a:p>
            <a:r>
              <a:rPr lang="en-US" dirty="0"/>
              <a:t>Platforms like PagerDuty and </a:t>
            </a:r>
            <a:r>
              <a:rPr lang="en-US" dirty="0" err="1"/>
              <a:t>Opsgenie</a:t>
            </a:r>
            <a:r>
              <a:rPr lang="en-US" dirty="0"/>
              <a:t> generate rotations, escalations, and overrides automatically, cutting manual scheduling errors.</a:t>
            </a:r>
          </a:p>
        </p:txBody>
      </p:sp>
    </p:spTree>
    <p:extLst>
      <p:ext uri="{BB962C8B-B14F-4D97-AF65-F5344CB8AC3E}">
        <p14:creationId xmlns:p14="http://schemas.microsoft.com/office/powerpoint/2010/main" val="3716806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9D39-A8DD-FD37-46E1-41A50FF7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0E621-8257-20F4-CAFB-55716E3C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https://drdroid.io/engineering-tools/google-sre-handbook-summary</a:t>
            </a:r>
            <a:endParaRPr lang="en-US" dirty="0"/>
          </a:p>
          <a:p>
            <a:r>
              <a:rPr lang="en-US" dirty="0">
                <a:hlinkClick r:id="rId3"/>
              </a:rPr>
              <a:t>https://devops.com/on-call-rotation-best-practices-reducing-burnout-and-improving-response/</a:t>
            </a:r>
            <a:endParaRPr lang="en-US" dirty="0"/>
          </a:p>
          <a:p>
            <a:r>
              <a:rPr lang="en-US">
                <a:hlinkClick r:id="rId4"/>
              </a:rPr>
              <a:t>https://incident.io/blog/incident-management-best-practices-2026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95612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40</TotalTime>
  <Words>467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Pager Rotation Duties</vt:lpstr>
      <vt:lpstr>What is Pager Rotation &amp; Why it matters</vt:lpstr>
      <vt:lpstr>Rotation models &amp; escalation structure</vt:lpstr>
      <vt:lpstr>Fairness &amp; compensation</vt:lpstr>
      <vt:lpstr>Sustainable Workload</vt:lpstr>
      <vt:lpstr>Handoffs &amp; training</vt:lpstr>
      <vt:lpstr>Automation &amp; Tooling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Trent Coffman</dc:creator>
  <cp:lastModifiedBy>Trent Coffman</cp:lastModifiedBy>
  <cp:revision>2</cp:revision>
  <dcterms:created xsi:type="dcterms:W3CDTF">2026-07-27T03:42:46Z</dcterms:created>
  <dcterms:modified xsi:type="dcterms:W3CDTF">2026-07-27T04:22:59Z</dcterms:modified>
</cp:coreProperties>
</file>